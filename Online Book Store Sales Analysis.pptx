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6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2E1BC-D861-402B-9517-A9AF3F681891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1236D-618A-429E-80F7-C40698E4B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520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2E1BC-D861-402B-9517-A9AF3F681891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1236D-618A-429E-80F7-C40698E4B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166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2E1BC-D861-402B-9517-A9AF3F681891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1236D-618A-429E-80F7-C40698E4B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925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2E1BC-D861-402B-9517-A9AF3F681891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1236D-618A-429E-80F7-C40698E4B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372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2E1BC-D861-402B-9517-A9AF3F681891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1236D-618A-429E-80F7-C40698E4B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84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2E1BC-D861-402B-9517-A9AF3F681891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1236D-618A-429E-80F7-C40698E4B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86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2E1BC-D861-402B-9517-A9AF3F681891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1236D-618A-429E-80F7-C40698E4B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573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2E1BC-D861-402B-9517-A9AF3F681891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1236D-618A-429E-80F7-C40698E4B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38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2E1BC-D861-402B-9517-A9AF3F681891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1236D-618A-429E-80F7-C40698E4B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264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2E1BC-D861-402B-9517-A9AF3F681891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1236D-618A-429E-80F7-C40698E4B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081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2E1BC-D861-402B-9517-A9AF3F681891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1236D-618A-429E-80F7-C40698E4B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787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2E1BC-D861-402B-9517-A9AF3F681891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1236D-618A-429E-80F7-C40698E4B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327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2478" y="2929703"/>
            <a:ext cx="6164687" cy="1479169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Online Book Store Sales Analysis</a:t>
            </a:r>
            <a:br>
              <a:rPr lang="en-US" dirty="0" smtClean="0">
                <a:latin typeface="Comic Sans MS" panose="030F0702030302020204" pitchFamily="66" charset="0"/>
              </a:rPr>
            </a:br>
            <a:r>
              <a:rPr lang="en-US" dirty="0" smtClean="0">
                <a:latin typeface="Comic Sans MS" panose="030F0702030302020204" pitchFamily="66" charset="0"/>
              </a:rPr>
              <a:t>Using </a:t>
            </a:r>
            <a:br>
              <a:rPr lang="en-US" dirty="0" smtClean="0">
                <a:latin typeface="Comic Sans MS" panose="030F0702030302020204" pitchFamily="66" charset="0"/>
              </a:rPr>
            </a:br>
            <a:r>
              <a:rPr lang="en-US" dirty="0" smtClean="0">
                <a:ln w="57150">
                  <a:solidFill>
                    <a:srgbClr val="0070C0"/>
                  </a:solidFill>
                </a:ln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Comic Sans MS" panose="030F0702030302020204" pitchFamily="66" charset="0"/>
              </a:rPr>
              <a:t>SQL</a:t>
            </a:r>
            <a:endParaRPr lang="en-US" dirty="0">
              <a:ln w="57150">
                <a:solidFill>
                  <a:srgbClr val="0070C0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Comic Sans MS" panose="030F0702030302020204" pitchFamily="66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" y="6550223"/>
            <a:ext cx="12544023" cy="307777"/>
            <a:chOff x="1" y="6550223"/>
            <a:chExt cx="12544023" cy="307777"/>
          </a:xfrm>
        </p:grpSpPr>
        <p:sp>
          <p:nvSpPr>
            <p:cNvPr id="4" name="Rounded Rectangle 3"/>
            <p:cNvSpPr/>
            <p:nvPr/>
          </p:nvSpPr>
          <p:spPr>
            <a:xfrm>
              <a:off x="1" y="6593983"/>
              <a:ext cx="12192000" cy="264017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208396" y="6550223"/>
              <a:ext cx="33356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Comic Sans MS" panose="030F0702030302020204" pitchFamily="66" charset="0"/>
                </a:rPr>
                <a:t>Javeria Khalid – Data Analyst</a:t>
              </a:r>
              <a:endParaRPr lang="en-US" sz="14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258" y="1458529"/>
            <a:ext cx="3326739" cy="332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208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DataBase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1681" t="20050" r="59171" b="74515"/>
          <a:stretch/>
        </p:blipFill>
        <p:spPr>
          <a:xfrm>
            <a:off x="1431234" y="2226365"/>
            <a:ext cx="5647184" cy="901148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grpSp>
        <p:nvGrpSpPr>
          <p:cNvPr id="5" name="Group 4"/>
          <p:cNvGrpSpPr/>
          <p:nvPr/>
        </p:nvGrpSpPr>
        <p:grpSpPr>
          <a:xfrm>
            <a:off x="1" y="6550223"/>
            <a:ext cx="12544023" cy="307777"/>
            <a:chOff x="1" y="6550223"/>
            <a:chExt cx="12544023" cy="307777"/>
          </a:xfrm>
        </p:grpSpPr>
        <p:sp>
          <p:nvSpPr>
            <p:cNvPr id="6" name="Rounded Rectangle 5"/>
            <p:cNvSpPr/>
            <p:nvPr/>
          </p:nvSpPr>
          <p:spPr>
            <a:xfrm>
              <a:off x="1" y="6593983"/>
              <a:ext cx="12192000" cy="264017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08396" y="6550223"/>
              <a:ext cx="33356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Comic Sans MS" panose="030F0702030302020204" pitchFamily="66" charset="0"/>
                </a:rPr>
                <a:t>Javeria Khalid – Data Analyst</a:t>
              </a:r>
              <a:endParaRPr lang="en-US" sz="14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9942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Create Table </a:t>
            </a:r>
            <a:r>
              <a:rPr lang="en-US" u="sng" dirty="0" smtClean="0">
                <a:latin typeface="Comic Sans MS" panose="030F0702030302020204" pitchFamily="66" charset="0"/>
              </a:rPr>
              <a:t>Books</a:t>
            </a:r>
            <a:endParaRPr lang="en-US" u="sng" dirty="0">
              <a:latin typeface="Comic Sans MS" panose="030F0702030302020204" pitchFamily="66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0207" t="36315" r="61129" b="38407"/>
          <a:stretch/>
        </p:blipFill>
        <p:spPr>
          <a:xfrm>
            <a:off x="2557670" y="1868556"/>
            <a:ext cx="4664765" cy="3552068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grpSp>
        <p:nvGrpSpPr>
          <p:cNvPr id="5" name="Group 4"/>
          <p:cNvGrpSpPr/>
          <p:nvPr/>
        </p:nvGrpSpPr>
        <p:grpSpPr>
          <a:xfrm>
            <a:off x="1" y="6550223"/>
            <a:ext cx="12544023" cy="307777"/>
            <a:chOff x="1" y="6550223"/>
            <a:chExt cx="12544023" cy="307777"/>
          </a:xfrm>
        </p:grpSpPr>
        <p:sp>
          <p:nvSpPr>
            <p:cNvPr id="6" name="Rounded Rectangle 5"/>
            <p:cNvSpPr/>
            <p:nvPr/>
          </p:nvSpPr>
          <p:spPr>
            <a:xfrm>
              <a:off x="1" y="6593983"/>
              <a:ext cx="12192000" cy="264017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08396" y="6550223"/>
              <a:ext cx="33356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Comic Sans MS" panose="030F0702030302020204" pitchFamily="66" charset="0"/>
                </a:rPr>
                <a:t>Javeria Khalid – Data Analyst</a:t>
              </a:r>
              <a:endParaRPr lang="en-US" sz="14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9254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Create Table </a:t>
            </a:r>
            <a:r>
              <a:rPr lang="en-US" u="sng" dirty="0" smtClean="0">
                <a:latin typeface="Comic Sans MS" panose="030F0702030302020204" pitchFamily="66" charset="0"/>
              </a:rPr>
              <a:t>Customers</a:t>
            </a:r>
            <a:endParaRPr lang="en-US" u="sng" dirty="0">
              <a:latin typeface="Comic Sans MS" panose="030F0702030302020204" pitchFamily="66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0565" t="19792" r="59268" b="57563"/>
          <a:stretch/>
        </p:blipFill>
        <p:spPr>
          <a:xfrm>
            <a:off x="2385390" y="1934818"/>
            <a:ext cx="6570322" cy="4147930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grpSp>
        <p:nvGrpSpPr>
          <p:cNvPr id="5" name="Group 4"/>
          <p:cNvGrpSpPr/>
          <p:nvPr/>
        </p:nvGrpSpPr>
        <p:grpSpPr>
          <a:xfrm>
            <a:off x="1" y="6550223"/>
            <a:ext cx="12544023" cy="307777"/>
            <a:chOff x="1" y="6550223"/>
            <a:chExt cx="12544023" cy="307777"/>
          </a:xfrm>
        </p:grpSpPr>
        <p:sp>
          <p:nvSpPr>
            <p:cNvPr id="6" name="Rounded Rectangle 5"/>
            <p:cNvSpPr/>
            <p:nvPr/>
          </p:nvSpPr>
          <p:spPr>
            <a:xfrm>
              <a:off x="1" y="6593983"/>
              <a:ext cx="12192000" cy="264017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08396" y="6550223"/>
              <a:ext cx="33356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Comic Sans MS" panose="030F0702030302020204" pitchFamily="66" charset="0"/>
                </a:rPr>
                <a:t>Javeria Khalid – Data Analyst</a:t>
              </a:r>
              <a:endParaRPr lang="en-US" sz="14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7136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Create Table </a:t>
            </a:r>
            <a:r>
              <a:rPr lang="en-US" u="sng" dirty="0" smtClean="0">
                <a:latin typeface="Comic Sans MS" panose="030F0702030302020204" pitchFamily="66" charset="0"/>
              </a:rPr>
              <a:t>Orders</a:t>
            </a:r>
            <a:endParaRPr lang="en-US" u="sng" dirty="0">
              <a:latin typeface="Comic Sans MS" panose="030F0702030302020204" pitchFamily="66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0766" t="35871" r="50232" b="40889"/>
          <a:stretch/>
        </p:blipFill>
        <p:spPr>
          <a:xfrm>
            <a:off x="2395470" y="2292438"/>
            <a:ext cx="5974723" cy="2691685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grpSp>
        <p:nvGrpSpPr>
          <p:cNvPr id="5" name="Group 4"/>
          <p:cNvGrpSpPr/>
          <p:nvPr/>
        </p:nvGrpSpPr>
        <p:grpSpPr>
          <a:xfrm>
            <a:off x="1" y="6550223"/>
            <a:ext cx="12544023" cy="307777"/>
            <a:chOff x="1" y="6550223"/>
            <a:chExt cx="12544023" cy="307777"/>
          </a:xfrm>
        </p:grpSpPr>
        <p:sp>
          <p:nvSpPr>
            <p:cNvPr id="6" name="Rounded Rectangle 5"/>
            <p:cNvSpPr/>
            <p:nvPr/>
          </p:nvSpPr>
          <p:spPr>
            <a:xfrm>
              <a:off x="1" y="6593983"/>
              <a:ext cx="12192000" cy="264017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08396" y="6550223"/>
              <a:ext cx="33356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Comic Sans MS" panose="030F0702030302020204" pitchFamily="66" charset="0"/>
                </a:rPr>
                <a:t>Javeria Khalid – Data Analyst</a:t>
              </a:r>
              <a:endParaRPr lang="en-US" sz="14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8469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4430"/>
          </a:xfrm>
        </p:spPr>
        <p:txBody>
          <a:bodyPr/>
          <a:lstStyle/>
          <a:p>
            <a:r>
              <a:rPr lang="en-US" dirty="0" smtClean="0">
                <a:latin typeface="Monotype Corsiva" panose="03010101010201010101" pitchFamily="66" charset="0"/>
              </a:rPr>
              <a:t>1) Retrieve all books in the "Fiction" genre</a:t>
            </a:r>
            <a:endParaRPr lang="en-US" dirty="0">
              <a:latin typeface="Monotype Corsiva" panose="03010101010201010101" pitchFamily="66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1323" t="53940" r="55380" b="40140"/>
          <a:stretch/>
        </p:blipFill>
        <p:spPr>
          <a:xfrm>
            <a:off x="2472743" y="1429555"/>
            <a:ext cx="6400782" cy="705453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8589" t="66153" r="34394" b="13424"/>
          <a:stretch/>
        </p:blipFill>
        <p:spPr>
          <a:xfrm>
            <a:off x="1095038" y="2691682"/>
            <a:ext cx="9439881" cy="2871990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grpSp>
        <p:nvGrpSpPr>
          <p:cNvPr id="6" name="Group 5"/>
          <p:cNvGrpSpPr/>
          <p:nvPr/>
        </p:nvGrpSpPr>
        <p:grpSpPr>
          <a:xfrm>
            <a:off x="1" y="6550223"/>
            <a:ext cx="12544023" cy="307777"/>
            <a:chOff x="1" y="6550223"/>
            <a:chExt cx="12544023" cy="307777"/>
          </a:xfrm>
        </p:grpSpPr>
        <p:sp>
          <p:nvSpPr>
            <p:cNvPr id="7" name="Rounded Rectangle 6"/>
            <p:cNvSpPr/>
            <p:nvPr/>
          </p:nvSpPr>
          <p:spPr>
            <a:xfrm>
              <a:off x="1" y="6593983"/>
              <a:ext cx="12192000" cy="264017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208396" y="6550223"/>
              <a:ext cx="33356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Comic Sans MS" panose="030F0702030302020204" pitchFamily="66" charset="0"/>
                </a:rPr>
                <a:t>Javeria Khalid – Data Analyst</a:t>
              </a:r>
              <a:endParaRPr lang="en-US" sz="14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0120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4430"/>
          </a:xfrm>
        </p:spPr>
        <p:txBody>
          <a:bodyPr/>
          <a:lstStyle/>
          <a:p>
            <a:r>
              <a:rPr lang="en-US" dirty="0" smtClean="0">
                <a:latin typeface="Monotype Corsiva" panose="03010101010201010101" pitchFamily="66" charset="0"/>
              </a:rPr>
              <a:t>2) Find books published after the year 1950:</a:t>
            </a:r>
            <a:endParaRPr lang="en-US" dirty="0">
              <a:latin typeface="Monotype Corsiva" panose="03010101010201010101" pitchFamily="66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" y="6550223"/>
            <a:ext cx="12544023" cy="307777"/>
            <a:chOff x="1" y="6550223"/>
            <a:chExt cx="12544023" cy="307777"/>
          </a:xfrm>
        </p:grpSpPr>
        <p:sp>
          <p:nvSpPr>
            <p:cNvPr id="7" name="Rounded Rectangle 6"/>
            <p:cNvSpPr/>
            <p:nvPr/>
          </p:nvSpPr>
          <p:spPr>
            <a:xfrm>
              <a:off x="1" y="6593983"/>
              <a:ext cx="12192000" cy="264017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208396" y="6550223"/>
              <a:ext cx="33356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Comic Sans MS" panose="030F0702030302020204" pitchFamily="66" charset="0"/>
                </a:rPr>
                <a:t>Javeria Khalid – Data Analyst</a:t>
              </a:r>
              <a:endParaRPr lang="en-US" sz="14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0668" t="33231" r="52508" b="63248"/>
          <a:stretch/>
        </p:blipFill>
        <p:spPr>
          <a:xfrm>
            <a:off x="2331077" y="1584100"/>
            <a:ext cx="6631316" cy="489399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18788" t="65625" r="34294" b="12720"/>
          <a:stretch/>
        </p:blipFill>
        <p:spPr>
          <a:xfrm>
            <a:off x="1537041" y="2588655"/>
            <a:ext cx="8212266" cy="2945326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62026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4430"/>
          </a:xfrm>
        </p:spPr>
        <p:txBody>
          <a:bodyPr/>
          <a:lstStyle/>
          <a:p>
            <a:r>
              <a:rPr lang="en-US" dirty="0" smtClean="0">
                <a:latin typeface="Monotype Corsiva" panose="03010101010201010101" pitchFamily="66" charset="0"/>
              </a:rPr>
              <a:t>3) List all customers from the Canada:</a:t>
            </a:r>
            <a:endParaRPr lang="en-US" dirty="0">
              <a:latin typeface="Monotype Corsiva" panose="03010101010201010101" pitchFamily="66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" y="6550223"/>
            <a:ext cx="12544023" cy="307777"/>
            <a:chOff x="1" y="6550223"/>
            <a:chExt cx="12544023" cy="307777"/>
          </a:xfrm>
        </p:grpSpPr>
        <p:sp>
          <p:nvSpPr>
            <p:cNvPr id="7" name="Rounded Rectangle 6"/>
            <p:cNvSpPr/>
            <p:nvPr/>
          </p:nvSpPr>
          <p:spPr>
            <a:xfrm>
              <a:off x="1" y="6593983"/>
              <a:ext cx="12192000" cy="264017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208396" y="6550223"/>
              <a:ext cx="33356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Comic Sans MS" panose="030F0702030302020204" pitchFamily="66" charset="0"/>
                </a:rPr>
                <a:t>Javeria Khalid – Data Analyst</a:t>
              </a:r>
              <a:endParaRPr lang="en-US" sz="14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1658" t="55238" r="65474" b="39128"/>
          <a:stretch/>
        </p:blipFill>
        <p:spPr>
          <a:xfrm>
            <a:off x="3206839" y="1473316"/>
            <a:ext cx="4708840" cy="1159099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8590" t="65449" r="42312" b="22579"/>
          <a:stretch/>
        </p:blipFill>
        <p:spPr>
          <a:xfrm>
            <a:off x="1275008" y="3206839"/>
            <a:ext cx="9201760" cy="158410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45134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4430"/>
          </a:xfrm>
        </p:spPr>
        <p:txBody>
          <a:bodyPr/>
          <a:lstStyle/>
          <a:p>
            <a:r>
              <a:rPr lang="en-US" dirty="0" smtClean="0">
                <a:latin typeface="Monotype Corsiva" panose="03010101010201010101" pitchFamily="66" charset="0"/>
              </a:rPr>
              <a:t>4) Show orders placed in November 2023</a:t>
            </a:r>
            <a:endParaRPr lang="en-US" dirty="0">
              <a:latin typeface="Monotype Corsiva" panose="03010101010201010101" pitchFamily="66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" y="6550223"/>
            <a:ext cx="12544023" cy="307777"/>
            <a:chOff x="1" y="6550223"/>
            <a:chExt cx="12544023" cy="307777"/>
          </a:xfrm>
        </p:grpSpPr>
        <p:sp>
          <p:nvSpPr>
            <p:cNvPr id="7" name="Rounded Rectangle 6"/>
            <p:cNvSpPr/>
            <p:nvPr/>
          </p:nvSpPr>
          <p:spPr>
            <a:xfrm>
              <a:off x="1" y="6593983"/>
              <a:ext cx="12192000" cy="264017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208396" y="6550223"/>
              <a:ext cx="33356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Comic Sans MS" panose="030F0702030302020204" pitchFamily="66" charset="0"/>
                </a:rPr>
                <a:t>Javeria Khalid – Data Analyst</a:t>
              </a:r>
              <a:endParaRPr lang="en-US" sz="14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1757" t="47491" r="49142" b="46523"/>
          <a:stretch/>
        </p:blipFill>
        <p:spPr>
          <a:xfrm>
            <a:off x="2395470" y="1661374"/>
            <a:ext cx="6570500" cy="759854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8688" t="65624" r="51122" b="16418"/>
          <a:stretch/>
        </p:blipFill>
        <p:spPr>
          <a:xfrm>
            <a:off x="2199743" y="3177896"/>
            <a:ext cx="7008653" cy="2262805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326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4430"/>
          </a:xfrm>
        </p:spPr>
        <p:txBody>
          <a:bodyPr/>
          <a:lstStyle/>
          <a:p>
            <a:r>
              <a:rPr lang="en-US" dirty="0" smtClean="0">
                <a:latin typeface="Monotype Corsiva" panose="03010101010201010101" pitchFamily="66" charset="0"/>
              </a:rPr>
              <a:t>5) Retrieve the total stock of books available:</a:t>
            </a:r>
            <a:endParaRPr lang="en-US" dirty="0">
              <a:latin typeface="Monotype Corsiva" panose="03010101010201010101" pitchFamily="66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" y="6550223"/>
            <a:ext cx="12544023" cy="307777"/>
            <a:chOff x="1" y="6550223"/>
            <a:chExt cx="12544023" cy="307777"/>
          </a:xfrm>
        </p:grpSpPr>
        <p:sp>
          <p:nvSpPr>
            <p:cNvPr id="7" name="Rounded Rectangle 6"/>
            <p:cNvSpPr/>
            <p:nvPr/>
          </p:nvSpPr>
          <p:spPr>
            <a:xfrm>
              <a:off x="1" y="6593983"/>
              <a:ext cx="12192000" cy="264017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208396" y="6550223"/>
              <a:ext cx="33356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Comic Sans MS" panose="030F0702030302020204" pitchFamily="66" charset="0"/>
                </a:rPr>
                <a:t>Javeria Khalid – Data Analyst</a:t>
              </a:r>
              <a:endParaRPr lang="en-US" sz="14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1086" t="27888" r="54877" b="68127"/>
          <a:stretch/>
        </p:blipFill>
        <p:spPr>
          <a:xfrm>
            <a:off x="2663687" y="1469528"/>
            <a:ext cx="5261113" cy="703828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8324" t="65082" r="75362" b="29302"/>
          <a:stretch/>
        </p:blipFill>
        <p:spPr>
          <a:xfrm>
            <a:off x="3631095" y="2809460"/>
            <a:ext cx="2173356" cy="108668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88712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4430"/>
          </a:xfrm>
        </p:spPr>
        <p:txBody>
          <a:bodyPr/>
          <a:lstStyle/>
          <a:p>
            <a:r>
              <a:rPr lang="en-US" dirty="0">
                <a:latin typeface="Monotype Corsiva" panose="03010101010201010101" pitchFamily="66" charset="0"/>
              </a:rPr>
              <a:t>6</a:t>
            </a:r>
            <a:r>
              <a:rPr lang="en-US" dirty="0" smtClean="0">
                <a:latin typeface="Monotype Corsiva" panose="03010101010201010101" pitchFamily="66" charset="0"/>
              </a:rPr>
              <a:t>) Find the details of the most expensive book:</a:t>
            </a:r>
            <a:endParaRPr lang="en-US" dirty="0">
              <a:latin typeface="Monotype Corsiva" panose="03010101010201010101" pitchFamily="66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" y="6550223"/>
            <a:ext cx="12544023" cy="307777"/>
            <a:chOff x="1" y="6550223"/>
            <a:chExt cx="12544023" cy="307777"/>
          </a:xfrm>
        </p:grpSpPr>
        <p:sp>
          <p:nvSpPr>
            <p:cNvPr id="7" name="Rounded Rectangle 6"/>
            <p:cNvSpPr/>
            <p:nvPr/>
          </p:nvSpPr>
          <p:spPr>
            <a:xfrm>
              <a:off x="1" y="6593983"/>
              <a:ext cx="12192000" cy="264017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208396" y="6550223"/>
              <a:ext cx="33356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Comic Sans MS" panose="030F0702030302020204" pitchFamily="66" charset="0"/>
                </a:rPr>
                <a:t>Javeria Khalid – Data Analyst</a:t>
              </a:r>
              <a:endParaRPr lang="en-US" sz="14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1074" t="44067" r="67417" b="46513"/>
          <a:stretch/>
        </p:blipFill>
        <p:spPr>
          <a:xfrm>
            <a:off x="3751859" y="1293488"/>
            <a:ext cx="3988904" cy="1083733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18426" t="65625" r="39611" b="29302"/>
          <a:stretch/>
        </p:blipFill>
        <p:spPr>
          <a:xfrm>
            <a:off x="1722782" y="3573744"/>
            <a:ext cx="9228714" cy="627194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1183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443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Monotype Corsiva" panose="03010101010201010101" pitchFamily="66" charset="0"/>
              </a:rPr>
              <a:t>7) Show all customers who ordered more than 1 quantity of a book:</a:t>
            </a:r>
            <a:endParaRPr lang="en-US" dirty="0">
              <a:latin typeface="Monotype Corsiva" panose="03010101010201010101" pitchFamily="66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" y="6550223"/>
            <a:ext cx="12544023" cy="307777"/>
            <a:chOff x="1" y="6550223"/>
            <a:chExt cx="12544023" cy="307777"/>
          </a:xfrm>
        </p:grpSpPr>
        <p:sp>
          <p:nvSpPr>
            <p:cNvPr id="7" name="Rounded Rectangle 6"/>
            <p:cNvSpPr/>
            <p:nvPr/>
          </p:nvSpPr>
          <p:spPr>
            <a:xfrm>
              <a:off x="1" y="6593983"/>
              <a:ext cx="12192000" cy="264017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208396" y="6550223"/>
              <a:ext cx="33356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Comic Sans MS" panose="030F0702030302020204" pitchFamily="66" charset="0"/>
                </a:rPr>
                <a:t>Javeria Khalid – Data Analyst</a:t>
              </a:r>
              <a:endParaRPr lang="en-US" sz="14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1658" t="47667" r="66959" b="46171"/>
          <a:stretch/>
        </p:blipFill>
        <p:spPr>
          <a:xfrm>
            <a:off x="3693124" y="1300859"/>
            <a:ext cx="3776622" cy="92504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8293" t="65273" r="50429" b="12896"/>
          <a:stretch/>
        </p:blipFill>
        <p:spPr>
          <a:xfrm>
            <a:off x="1652235" y="2442116"/>
            <a:ext cx="7121194" cy="279439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07055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443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Monotype Corsiva" panose="03010101010201010101" pitchFamily="66" charset="0"/>
              </a:rPr>
              <a:t>8) Retrieve all orders where the total amount exceeds $20:</a:t>
            </a:r>
            <a:endParaRPr lang="en-US" dirty="0">
              <a:latin typeface="Monotype Corsiva" panose="03010101010201010101" pitchFamily="66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" y="6550223"/>
            <a:ext cx="12544023" cy="307777"/>
            <a:chOff x="1" y="6550223"/>
            <a:chExt cx="12544023" cy="307777"/>
          </a:xfrm>
        </p:grpSpPr>
        <p:sp>
          <p:nvSpPr>
            <p:cNvPr id="7" name="Rounded Rectangle 6"/>
            <p:cNvSpPr/>
            <p:nvPr/>
          </p:nvSpPr>
          <p:spPr>
            <a:xfrm>
              <a:off x="1" y="6593983"/>
              <a:ext cx="12192000" cy="264017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208396" y="6550223"/>
              <a:ext cx="33356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Comic Sans MS" panose="030F0702030302020204" pitchFamily="66" charset="0"/>
                </a:rPr>
                <a:t>Javeria Khalid – Data Analyst</a:t>
              </a:r>
              <a:endParaRPr lang="en-US" sz="14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0767" t="52421" r="54289" b="44410"/>
          <a:stretch/>
        </p:blipFill>
        <p:spPr>
          <a:xfrm>
            <a:off x="2125012" y="1429556"/>
            <a:ext cx="7392453" cy="528033"/>
          </a:xfrm>
          <a:prstGeom prst="rect">
            <a:avLst/>
          </a:prstGeom>
          <a:solidFill>
            <a:srgbClr val="7030A0"/>
          </a:solidFill>
          <a:ln w="38100">
            <a:solidFill>
              <a:schemeClr val="accent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8589" t="65625" r="51518" b="14304"/>
          <a:stretch/>
        </p:blipFill>
        <p:spPr>
          <a:xfrm>
            <a:off x="2343953" y="2571260"/>
            <a:ext cx="7381386" cy="278635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06475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443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Monotype Corsiva" panose="03010101010201010101" pitchFamily="66" charset="0"/>
              </a:rPr>
              <a:t>10) Find the book with the lowest stock:</a:t>
            </a:r>
            <a:endParaRPr lang="en-US" dirty="0">
              <a:latin typeface="Monotype Corsiva" panose="03010101010201010101" pitchFamily="66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" y="6550223"/>
            <a:ext cx="12544023" cy="307777"/>
            <a:chOff x="1" y="6550223"/>
            <a:chExt cx="12544023" cy="307777"/>
          </a:xfrm>
        </p:grpSpPr>
        <p:sp>
          <p:nvSpPr>
            <p:cNvPr id="7" name="Rounded Rectangle 6"/>
            <p:cNvSpPr/>
            <p:nvPr/>
          </p:nvSpPr>
          <p:spPr>
            <a:xfrm>
              <a:off x="1" y="6593983"/>
              <a:ext cx="12192000" cy="264017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208396" y="6550223"/>
              <a:ext cx="33356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Comic Sans MS" panose="030F0702030302020204" pitchFamily="66" charset="0"/>
                </a:rPr>
                <a:t>Javeria Khalid – Data Analyst</a:t>
              </a:r>
              <a:endParaRPr lang="en-US" sz="14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1658" t="49780" r="67256" b="44058"/>
          <a:stretch/>
        </p:blipFill>
        <p:spPr>
          <a:xfrm>
            <a:off x="3065170" y="1429556"/>
            <a:ext cx="3255769" cy="1017431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9183" t="65273" r="35582" b="20643"/>
          <a:stretch/>
        </p:blipFill>
        <p:spPr>
          <a:xfrm>
            <a:off x="1387483" y="3213279"/>
            <a:ext cx="9417034" cy="164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24247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443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Monotype Corsiva" panose="03010101010201010101" pitchFamily="66" charset="0"/>
              </a:rPr>
              <a:t>11) List all genres available in the Books table:</a:t>
            </a:r>
            <a:endParaRPr lang="en-US" dirty="0">
              <a:latin typeface="Monotype Corsiva" panose="03010101010201010101" pitchFamily="66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" y="6550223"/>
            <a:ext cx="12544023" cy="307777"/>
            <a:chOff x="1" y="6550223"/>
            <a:chExt cx="12544023" cy="307777"/>
          </a:xfrm>
        </p:grpSpPr>
        <p:sp>
          <p:nvSpPr>
            <p:cNvPr id="7" name="Rounded Rectangle 6"/>
            <p:cNvSpPr/>
            <p:nvPr/>
          </p:nvSpPr>
          <p:spPr>
            <a:xfrm>
              <a:off x="1" y="6593983"/>
              <a:ext cx="12192000" cy="264017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208396" y="6550223"/>
              <a:ext cx="33356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Comic Sans MS" panose="030F0702030302020204" pitchFamily="66" charset="0"/>
                </a:rPr>
                <a:t>Javeria Khalid – Data Analyst</a:t>
              </a:r>
              <a:endParaRPr lang="en-US" sz="14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0965" t="41505" r="61020" b="54798"/>
          <a:stretch/>
        </p:blipFill>
        <p:spPr>
          <a:xfrm>
            <a:off x="2343955" y="1429556"/>
            <a:ext cx="5692452" cy="656823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8293" t="65625" r="75471" b="16769"/>
          <a:stretch/>
        </p:blipFill>
        <p:spPr>
          <a:xfrm>
            <a:off x="3915177" y="2375030"/>
            <a:ext cx="1648495" cy="261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615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443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Monotype Corsiva" panose="03010101010201010101" pitchFamily="66" charset="0"/>
              </a:rPr>
              <a:t>12) Calculate the total revenue generated from all orders:</a:t>
            </a:r>
            <a:endParaRPr lang="en-US" dirty="0">
              <a:latin typeface="Monotype Corsiva" panose="03010101010201010101" pitchFamily="66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" y="6550223"/>
            <a:ext cx="12544023" cy="307777"/>
            <a:chOff x="1" y="6550223"/>
            <a:chExt cx="12544023" cy="307777"/>
          </a:xfrm>
        </p:grpSpPr>
        <p:sp>
          <p:nvSpPr>
            <p:cNvPr id="7" name="Rounded Rectangle 6"/>
            <p:cNvSpPr/>
            <p:nvPr/>
          </p:nvSpPr>
          <p:spPr>
            <a:xfrm>
              <a:off x="1" y="6593983"/>
              <a:ext cx="12192000" cy="264017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208396" y="6550223"/>
              <a:ext cx="33356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Comic Sans MS" panose="030F0702030302020204" pitchFamily="66" charset="0"/>
                </a:rPr>
                <a:t>Javeria Khalid – Data Analyst</a:t>
              </a:r>
              <a:endParaRPr lang="en-US" sz="14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1658" t="36224" r="59040" b="58671"/>
          <a:stretch/>
        </p:blipFill>
        <p:spPr>
          <a:xfrm>
            <a:off x="2511380" y="1473316"/>
            <a:ext cx="5975358" cy="888642"/>
          </a:xfrm>
          <a:prstGeom prst="rect">
            <a:avLst/>
          </a:prstGeom>
          <a:ln w="76200">
            <a:solidFill>
              <a:schemeClr val="accent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8985" t="64921" r="75571" b="28917"/>
          <a:stretch/>
        </p:blipFill>
        <p:spPr>
          <a:xfrm>
            <a:off x="4327301" y="3284113"/>
            <a:ext cx="1983347" cy="1262129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59356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443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Monotype Corsiva" panose="03010101010201010101" pitchFamily="66" charset="0"/>
              </a:rPr>
              <a:t>13) R etrieve the total number of books sold for each genre:</a:t>
            </a:r>
            <a:endParaRPr lang="en-US" dirty="0">
              <a:latin typeface="Monotype Corsiva" panose="03010101010201010101" pitchFamily="66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" y="6550223"/>
            <a:ext cx="12544023" cy="307777"/>
            <a:chOff x="1" y="6550223"/>
            <a:chExt cx="12544023" cy="307777"/>
          </a:xfrm>
        </p:grpSpPr>
        <p:sp>
          <p:nvSpPr>
            <p:cNvPr id="7" name="Rounded Rectangle 6"/>
            <p:cNvSpPr/>
            <p:nvPr/>
          </p:nvSpPr>
          <p:spPr>
            <a:xfrm>
              <a:off x="1" y="6593983"/>
              <a:ext cx="12192000" cy="264017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208396" y="6550223"/>
              <a:ext cx="33356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Comic Sans MS" panose="030F0702030302020204" pitchFamily="66" charset="0"/>
                </a:rPr>
                <a:t>Javeria Khalid – Data Analyst</a:t>
              </a:r>
              <a:endParaRPr lang="en-US" sz="14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1757" t="28124" r="49538" b="60960"/>
          <a:stretch/>
        </p:blipFill>
        <p:spPr>
          <a:xfrm>
            <a:off x="2642248" y="1473316"/>
            <a:ext cx="5239622" cy="1120195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8688" t="44674" r="67553" b="36312"/>
          <a:stretch/>
        </p:blipFill>
        <p:spPr>
          <a:xfrm>
            <a:off x="3683358" y="3103808"/>
            <a:ext cx="3181082" cy="2471632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06814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443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Monotype Corsiva" panose="03010101010201010101" pitchFamily="66" charset="0"/>
              </a:rPr>
              <a:t>14) Find the average price of books in the "Fantasy" genre:</a:t>
            </a:r>
            <a:endParaRPr lang="en-US" dirty="0">
              <a:latin typeface="Monotype Corsiva" panose="03010101010201010101" pitchFamily="66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" y="6550223"/>
            <a:ext cx="12544023" cy="307777"/>
            <a:chOff x="1" y="6550223"/>
            <a:chExt cx="12544023" cy="307777"/>
          </a:xfrm>
        </p:grpSpPr>
        <p:sp>
          <p:nvSpPr>
            <p:cNvPr id="7" name="Rounded Rectangle 6"/>
            <p:cNvSpPr/>
            <p:nvPr/>
          </p:nvSpPr>
          <p:spPr>
            <a:xfrm>
              <a:off x="1" y="6593983"/>
              <a:ext cx="12192000" cy="264017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208396" y="6550223"/>
              <a:ext cx="33356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Comic Sans MS" panose="030F0702030302020204" pitchFamily="66" charset="0"/>
                </a:rPr>
                <a:t>Javeria Khalid – Data Analyst</a:t>
              </a:r>
              <a:endParaRPr lang="en-US" sz="14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1658" t="30942" r="52111" b="54269"/>
          <a:stretch/>
        </p:blipFill>
        <p:spPr>
          <a:xfrm>
            <a:off x="2987897" y="1287888"/>
            <a:ext cx="5254581" cy="1665602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8490" t="52597" r="67949" b="16417"/>
          <a:stretch/>
        </p:blipFill>
        <p:spPr>
          <a:xfrm>
            <a:off x="4468967" y="3378140"/>
            <a:ext cx="2240926" cy="2878855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06027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443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Monotype Corsiva" panose="03010101010201010101" pitchFamily="66" charset="0"/>
              </a:rPr>
              <a:t>15) Find the most frequently ordered book:</a:t>
            </a:r>
            <a:endParaRPr lang="en-US" dirty="0">
              <a:latin typeface="Monotype Corsiva" panose="03010101010201010101" pitchFamily="66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" y="6550223"/>
            <a:ext cx="12544023" cy="307777"/>
            <a:chOff x="1" y="6550223"/>
            <a:chExt cx="12544023" cy="307777"/>
          </a:xfrm>
        </p:grpSpPr>
        <p:sp>
          <p:nvSpPr>
            <p:cNvPr id="7" name="Rounded Rectangle 6"/>
            <p:cNvSpPr/>
            <p:nvPr/>
          </p:nvSpPr>
          <p:spPr>
            <a:xfrm>
              <a:off x="1" y="6593983"/>
              <a:ext cx="12192000" cy="264017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208396" y="6550223"/>
              <a:ext cx="33356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Comic Sans MS" panose="030F0702030302020204" pitchFamily="66" charset="0"/>
                </a:rPr>
                <a:t>Javeria Khalid – Data Analyst</a:t>
              </a:r>
              <a:endParaRPr lang="en-US" sz="14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1855" t="30766" r="44787" b="54797"/>
          <a:stretch/>
        </p:blipFill>
        <p:spPr>
          <a:xfrm>
            <a:off x="3078050" y="1326523"/>
            <a:ext cx="5486400" cy="1334972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8787" t="65977" r="58941" b="28213"/>
          <a:stretch/>
        </p:blipFill>
        <p:spPr>
          <a:xfrm>
            <a:off x="3078050" y="3837905"/>
            <a:ext cx="5211040" cy="764286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76291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443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Monotype Corsiva" panose="03010101010201010101" pitchFamily="66" charset="0"/>
              </a:rPr>
              <a:t>16) Show the top 3 most expensive books of 'Fantasy' Genre :</a:t>
            </a:r>
            <a:endParaRPr lang="en-US" dirty="0">
              <a:latin typeface="Monotype Corsiva" panose="03010101010201010101" pitchFamily="66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" y="6550223"/>
            <a:ext cx="12544023" cy="307777"/>
            <a:chOff x="1" y="6550223"/>
            <a:chExt cx="12544023" cy="307777"/>
          </a:xfrm>
        </p:grpSpPr>
        <p:sp>
          <p:nvSpPr>
            <p:cNvPr id="7" name="Rounded Rectangle 6"/>
            <p:cNvSpPr/>
            <p:nvPr/>
          </p:nvSpPr>
          <p:spPr>
            <a:xfrm>
              <a:off x="1" y="6593983"/>
              <a:ext cx="12192000" cy="264017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208396" y="6550223"/>
              <a:ext cx="33356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Comic Sans MS" panose="030F0702030302020204" pitchFamily="66" charset="0"/>
                </a:rPr>
                <a:t>Javeria Khalid – Data Analyst</a:t>
              </a:r>
              <a:endParaRPr lang="en-US" sz="14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1361" t="52949" r="54784" b="41241"/>
          <a:stretch/>
        </p:blipFill>
        <p:spPr>
          <a:xfrm>
            <a:off x="2176530" y="1473316"/>
            <a:ext cx="7430308" cy="1017431"/>
          </a:xfrm>
          <a:prstGeom prst="rect">
            <a:avLst/>
          </a:prstGeom>
          <a:ln w="76200">
            <a:solidFill>
              <a:schemeClr val="accent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8689" t="66505" r="38847" b="24516"/>
          <a:stretch/>
        </p:blipFill>
        <p:spPr>
          <a:xfrm>
            <a:off x="1416675" y="3361385"/>
            <a:ext cx="8991711" cy="1068947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28479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443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Monotype Corsiva" panose="03010101010201010101" pitchFamily="66" charset="0"/>
              </a:rPr>
              <a:t>16) Retrieve the total quantity of books sold by each author::</a:t>
            </a:r>
            <a:endParaRPr lang="en-US" dirty="0">
              <a:latin typeface="Monotype Corsiva" panose="03010101010201010101" pitchFamily="66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" y="6550223"/>
            <a:ext cx="12544023" cy="307777"/>
            <a:chOff x="1" y="6550223"/>
            <a:chExt cx="12544023" cy="307777"/>
          </a:xfrm>
        </p:grpSpPr>
        <p:sp>
          <p:nvSpPr>
            <p:cNvPr id="7" name="Rounded Rectangle 6"/>
            <p:cNvSpPr/>
            <p:nvPr/>
          </p:nvSpPr>
          <p:spPr>
            <a:xfrm>
              <a:off x="1" y="6593983"/>
              <a:ext cx="12192000" cy="264017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208396" y="6550223"/>
              <a:ext cx="33356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Comic Sans MS" panose="030F0702030302020204" pitchFamily="66" charset="0"/>
                </a:rPr>
                <a:t>Javeria Khalid – Data Analyst</a:t>
              </a:r>
              <a:endParaRPr lang="en-US" sz="14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1559" t="44322" r="49439" b="44587"/>
          <a:stretch/>
        </p:blipFill>
        <p:spPr>
          <a:xfrm>
            <a:off x="2962139" y="1473316"/>
            <a:ext cx="5630318" cy="1210614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8293" t="65977" r="64781" b="13952"/>
          <a:stretch/>
        </p:blipFill>
        <p:spPr>
          <a:xfrm>
            <a:off x="3387144" y="2879744"/>
            <a:ext cx="3689800" cy="2459865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39590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443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Monotype Corsiva" panose="03010101010201010101" pitchFamily="66" charset="0"/>
              </a:rPr>
              <a:t>16) List the cities where customers who spent over $30 are located:</a:t>
            </a:r>
            <a:endParaRPr lang="en-US" dirty="0">
              <a:latin typeface="Monotype Corsiva" panose="03010101010201010101" pitchFamily="66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" y="6550223"/>
            <a:ext cx="12544023" cy="307777"/>
            <a:chOff x="1" y="6550223"/>
            <a:chExt cx="12544023" cy="307777"/>
          </a:xfrm>
        </p:grpSpPr>
        <p:sp>
          <p:nvSpPr>
            <p:cNvPr id="7" name="Rounded Rectangle 6"/>
            <p:cNvSpPr/>
            <p:nvPr/>
          </p:nvSpPr>
          <p:spPr>
            <a:xfrm>
              <a:off x="1" y="6593983"/>
              <a:ext cx="12192000" cy="264017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208396" y="6550223"/>
              <a:ext cx="33356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Comic Sans MS" panose="030F0702030302020204" pitchFamily="66" charset="0"/>
                </a:rPr>
                <a:t>Javeria Khalid – Data Analyst</a:t>
              </a:r>
              <a:endParaRPr lang="en-US" sz="14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1954" t="28125" r="53300" b="61136"/>
          <a:stretch/>
        </p:blipFill>
        <p:spPr>
          <a:xfrm>
            <a:off x="3348507" y="1473316"/>
            <a:ext cx="4908753" cy="1197735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8688" t="65801" r="68048" b="14657"/>
          <a:stretch/>
        </p:blipFill>
        <p:spPr>
          <a:xfrm>
            <a:off x="4262907" y="3282832"/>
            <a:ext cx="2498502" cy="2069656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61049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443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Monotype Corsiva" panose="03010101010201010101" pitchFamily="66" charset="0"/>
              </a:rPr>
              <a:t>17) Find the customer who spent the most on orders:</a:t>
            </a:r>
            <a:endParaRPr lang="en-US" dirty="0">
              <a:latin typeface="Monotype Corsiva" panose="03010101010201010101" pitchFamily="66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" y="6550223"/>
            <a:ext cx="12544023" cy="307777"/>
            <a:chOff x="1" y="6550223"/>
            <a:chExt cx="12544023" cy="307777"/>
          </a:xfrm>
        </p:grpSpPr>
        <p:sp>
          <p:nvSpPr>
            <p:cNvPr id="7" name="Rounded Rectangle 6"/>
            <p:cNvSpPr/>
            <p:nvPr/>
          </p:nvSpPr>
          <p:spPr>
            <a:xfrm>
              <a:off x="1" y="6593983"/>
              <a:ext cx="12192000" cy="264017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208396" y="6550223"/>
              <a:ext cx="33356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Comic Sans MS" panose="030F0702030302020204" pitchFamily="66" charset="0"/>
                </a:rPr>
                <a:t>Javeria Khalid – Data Analyst</a:t>
              </a:r>
              <a:endParaRPr lang="en-US" sz="14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1559" t="28125" r="44886" b="57615"/>
          <a:stretch/>
        </p:blipFill>
        <p:spPr>
          <a:xfrm>
            <a:off x="2923503" y="1596980"/>
            <a:ext cx="5718221" cy="1366301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8787" t="59639" r="62406" b="14304"/>
          <a:stretch/>
        </p:blipFill>
        <p:spPr>
          <a:xfrm>
            <a:off x="3915176" y="3232597"/>
            <a:ext cx="3258356" cy="253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731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443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Monotype Corsiva" panose="03010101010201010101" pitchFamily="66" charset="0"/>
              </a:rPr>
              <a:t>18) Calculate the stock remaining after fulfilling all orders:</a:t>
            </a:r>
            <a:endParaRPr lang="en-US" dirty="0">
              <a:latin typeface="Monotype Corsiva" panose="03010101010201010101" pitchFamily="66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" y="6550223"/>
            <a:ext cx="12544023" cy="307777"/>
            <a:chOff x="1" y="6550223"/>
            <a:chExt cx="12544023" cy="307777"/>
          </a:xfrm>
        </p:grpSpPr>
        <p:sp>
          <p:nvSpPr>
            <p:cNvPr id="7" name="Rounded Rectangle 6"/>
            <p:cNvSpPr/>
            <p:nvPr/>
          </p:nvSpPr>
          <p:spPr>
            <a:xfrm>
              <a:off x="1" y="6593983"/>
              <a:ext cx="12192000" cy="264017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208396" y="6550223"/>
              <a:ext cx="33356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Comic Sans MS" panose="030F0702030302020204" pitchFamily="66" charset="0"/>
                </a:rPr>
                <a:t>Javeria Khalid – Data Analyst</a:t>
              </a:r>
              <a:endParaRPr lang="en-US" sz="14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1757" t="36224" r="34195" b="50044"/>
          <a:stretch/>
        </p:blipFill>
        <p:spPr>
          <a:xfrm>
            <a:off x="1787357" y="1530026"/>
            <a:ext cx="7755888" cy="1300766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8391" t="59639" r="43698" b="14833"/>
          <a:stretch/>
        </p:blipFill>
        <p:spPr>
          <a:xfrm>
            <a:off x="2187157" y="3124443"/>
            <a:ext cx="7021239" cy="2658171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677103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3523" y="1640134"/>
            <a:ext cx="3180009" cy="1325563"/>
          </a:xfrm>
        </p:spPr>
        <p:txBody>
          <a:bodyPr/>
          <a:lstStyle/>
          <a:p>
            <a:pPr algn="ctr"/>
            <a:r>
              <a:rPr lang="en-US" dirty="0" smtClean="0">
                <a:latin typeface="Comic Sans MS" panose="030F0702030302020204" pitchFamily="66" charset="0"/>
              </a:rPr>
              <a:t>Thank you</a:t>
            </a:r>
            <a:endParaRPr 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757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360</Words>
  <Application>Microsoft Office PowerPoint</Application>
  <PresentationFormat>Widescreen</PresentationFormat>
  <Paragraphs>49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Comic Sans MS</vt:lpstr>
      <vt:lpstr>Monotype Corsiva</vt:lpstr>
      <vt:lpstr>Office Theme</vt:lpstr>
      <vt:lpstr>Online Book Store Sales Analysis Using  SQL</vt:lpstr>
      <vt:lpstr>Create DataBase</vt:lpstr>
      <vt:lpstr>Create Table Books</vt:lpstr>
      <vt:lpstr>Create Table Customers</vt:lpstr>
      <vt:lpstr>Create Table Orders</vt:lpstr>
      <vt:lpstr>1) Retrieve all books in the "Fiction" genre</vt:lpstr>
      <vt:lpstr>2) Find books published after the year 1950:</vt:lpstr>
      <vt:lpstr>3) List all customers from the Canada:</vt:lpstr>
      <vt:lpstr>4) Show orders placed in November 2023</vt:lpstr>
      <vt:lpstr>5) Retrieve the total stock of books available:</vt:lpstr>
      <vt:lpstr>6) Find the details of the most expensive book:</vt:lpstr>
      <vt:lpstr>7) Show all customers who ordered more than 1 quantity of a book:</vt:lpstr>
      <vt:lpstr>8) Retrieve all orders where the total amount exceeds $20:</vt:lpstr>
      <vt:lpstr>10) Find the book with the lowest stock:</vt:lpstr>
      <vt:lpstr>11) List all genres available in the Books table:</vt:lpstr>
      <vt:lpstr>12) Calculate the total revenue generated from all orders:</vt:lpstr>
      <vt:lpstr>13) R etrieve the total number of books sold for each genre:</vt:lpstr>
      <vt:lpstr>14) Find the average price of books in the "Fantasy" genre:</vt:lpstr>
      <vt:lpstr>15) Find the most frequently ordered book:</vt:lpstr>
      <vt:lpstr>16) Show the top 3 most expensive books of 'Fantasy' Genre :</vt:lpstr>
      <vt:lpstr>16) Retrieve the total quantity of books sold by each author::</vt:lpstr>
      <vt:lpstr>16) List the cities where customers who spent over $30 are located:</vt:lpstr>
      <vt:lpstr>17) Find the customer who spent the most on orders:</vt:lpstr>
      <vt:lpstr>18) Calculate the stock remaining after fulfilling all orders: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data project</dc:title>
  <dc:creator>DELL</dc:creator>
  <cp:lastModifiedBy>DELL</cp:lastModifiedBy>
  <cp:revision>14</cp:revision>
  <dcterms:created xsi:type="dcterms:W3CDTF">2026-09-16T04:29:57Z</dcterms:created>
  <dcterms:modified xsi:type="dcterms:W3CDTF">2026-09-16T11:58:11Z</dcterms:modified>
</cp:coreProperties>
</file>